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企业知识库问答机器人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2194560"/>
            <a:ext cx="2743200" cy="54864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4" name="Text 2"/>
          <p:cNvSpPr/>
          <p:nvPr/>
        </p:nvSpPr>
        <p:spPr>
          <a:xfrm>
            <a:off x="914400" y="2468880"/>
            <a:ext cx="7315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EC4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基于 RAG 架构的智能知识库问答系统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7315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课程：云计算与大数据应用开发
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成员：XXX / XXX / XXX / XXX
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F8C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年 6 月x</a:t>
            </a:r>
            <a:r>
              <a:rPr lang="zh-CN" altLang="en-US" sz="1400" dirty="0">
                <a:solidFill>
                  <a:srgbClr val="7F8C8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日</a:t>
            </a:r>
            <a:endParaRPr lang="zh-CN" altLang="en-US" sz="1400" dirty="0">
              <a:solidFill>
                <a:srgbClr val="7F8C8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项目背景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645920" cy="36576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4" name="Shape 2"/>
          <p:cNvSpPr/>
          <p:nvPr/>
        </p:nvSpPr>
        <p:spPr>
          <a:xfrm>
            <a:off x="548640" y="146304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E8ECEF"/>
          </a:solidFill>
        </p:spPr>
      </p:sp>
      <p:sp>
        <p:nvSpPr>
          <p:cNvPr id="5" name="Text 3"/>
          <p:cNvSpPr/>
          <p:nvPr/>
        </p:nvSpPr>
        <p:spPr>
          <a:xfrm>
            <a:off x="731520" y="160020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6858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企业痛点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6858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企业内部文档分散，员工查找制度流程耗时耗力，重复咨询 HR / IT / 行政效率低下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E8ECEF"/>
          </a:solidFill>
        </p:spPr>
      </p:sp>
      <p:sp>
        <p:nvSpPr>
          <p:cNvPr id="9" name="Text 7"/>
          <p:cNvSpPr/>
          <p:nvPr/>
        </p:nvSpPr>
        <p:spPr>
          <a:xfrm>
            <a:off x="731520" y="26974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2651760"/>
            <a:ext cx="6858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知识沉淀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017520"/>
            <a:ext cx="6858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大量制度文件、培训材料、报销流程等隐性知识未被有效组织和利用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E8ECEF"/>
          </a:solidFill>
        </p:spPr>
      </p:sp>
      <p:sp>
        <p:nvSpPr>
          <p:cNvPr id="13" name="Text 11"/>
          <p:cNvSpPr/>
          <p:nvPr/>
        </p:nvSpPr>
        <p:spPr>
          <a:xfrm>
            <a:off x="731520" y="379476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3749040"/>
            <a:ext cx="6858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AI 赋能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114800"/>
            <a:ext cx="6858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借助大语言模型 + RAG 技术，将企业文档转化为可对话的知识库，即问即答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项目目标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645920" cy="36576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4" name="Text 2"/>
          <p:cNvSpPr/>
          <p:nvPr/>
        </p:nvSpPr>
        <p:spPr>
          <a:xfrm>
            <a:off x="548640" y="1371600"/>
            <a:ext cx="10972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EC4B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737360" y="146304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多格式知识库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37360" y="187452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 PDF / Word / Excel / 图片 / 视频等文档的结构化存储与语义检索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1371600"/>
            <a:ext cx="10972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EC4B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852160" y="146304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智能问答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852160" y="187452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基于 DeepSeek 大模型 + RAG 架构，理解用户意图，精准回答并附引用来源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0972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EC4B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737360" y="329184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多端访问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37360" y="370332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界面（Streamlit）+ RESTful API（FastAPI）+ Docker 容器化一键部署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3200400"/>
            <a:ext cx="109728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EC4B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852160" y="329184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多模态扩展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852160" y="370332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图片通过视觉模型理解，视频通过 Whisper 语音识别，纳入知识库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41275"/>
            <a:ext cx="7315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技术架构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0050" y="727075"/>
            <a:ext cx="1645920" cy="36576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4" name="Shape 2"/>
          <p:cNvSpPr/>
          <p:nvPr/>
        </p:nvSpPr>
        <p:spPr>
          <a:xfrm>
            <a:off x="491490" y="1138555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1B3A5C"/>
          </a:solidFill>
        </p:spPr>
      </p:sp>
      <p:sp>
        <p:nvSpPr>
          <p:cNvPr id="5" name="Text 3"/>
          <p:cNvSpPr/>
          <p:nvPr/>
        </p:nvSpPr>
        <p:spPr>
          <a:xfrm>
            <a:off x="491490" y="1229995"/>
            <a:ext cx="1463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文档上传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91490" y="1641475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PDF/Word/Excel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图片/视频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08810" y="1504315"/>
            <a:ext cx="320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F8C8D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183130" y="1138555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2C5F7C"/>
          </a:solidFill>
        </p:spPr>
      </p:sp>
      <p:sp>
        <p:nvSpPr>
          <p:cNvPr id="9" name="Text 7"/>
          <p:cNvSpPr/>
          <p:nvPr/>
        </p:nvSpPr>
        <p:spPr>
          <a:xfrm>
            <a:off x="2183130" y="1229995"/>
            <a:ext cx="1463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文本提取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83130" y="1641475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多模态处理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VL + Whisper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00450" y="1504315"/>
            <a:ext cx="320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F8C8D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874770" y="1138555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1A7293"/>
          </a:solidFill>
        </p:spPr>
      </p:sp>
      <p:sp>
        <p:nvSpPr>
          <p:cNvPr id="13" name="Text 11"/>
          <p:cNvSpPr/>
          <p:nvPr/>
        </p:nvSpPr>
        <p:spPr>
          <a:xfrm>
            <a:off x="3874770" y="1229995"/>
            <a:ext cx="1463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向量嵌入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74770" y="1641475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 / OpenAI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DashScope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92090" y="1504315"/>
            <a:ext cx="320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F8C8D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566410" y="1138555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0D8FA0"/>
          </a:solidFill>
        </p:spPr>
      </p:sp>
      <p:sp>
        <p:nvSpPr>
          <p:cNvPr id="17" name="Text 15"/>
          <p:cNvSpPr/>
          <p:nvPr/>
        </p:nvSpPr>
        <p:spPr>
          <a:xfrm>
            <a:off x="5566410" y="1229995"/>
            <a:ext cx="1463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ChromaDB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66410" y="1641475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语义检索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Cosine 相似度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83730" y="1504315"/>
            <a:ext cx="320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F8C8D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258050" y="1138555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2EC4B6"/>
          </a:solidFill>
        </p:spPr>
      </p:sp>
      <p:sp>
        <p:nvSpPr>
          <p:cNvPr id="21" name="Text 19"/>
          <p:cNvSpPr/>
          <p:nvPr/>
        </p:nvSpPr>
        <p:spPr>
          <a:xfrm>
            <a:off x="7258050" y="1229995"/>
            <a:ext cx="1463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LLM 生成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58050" y="1641475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DeepSeek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带来源引用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2930" y="2784475"/>
            <a:ext cx="1645920" cy="27432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24" name="Text 22"/>
          <p:cNvSpPr/>
          <p:nvPr/>
        </p:nvSpPr>
        <p:spPr>
          <a:xfrm>
            <a:off x="582930" y="2784475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层级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28850" y="2784475"/>
            <a:ext cx="6035040" cy="27432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26" name="Text 24"/>
          <p:cNvSpPr/>
          <p:nvPr/>
        </p:nvSpPr>
        <p:spPr>
          <a:xfrm>
            <a:off x="2228850" y="2784475"/>
            <a:ext cx="6035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技术选型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2930" y="3077083"/>
            <a:ext cx="1645920" cy="274320"/>
          </a:xfrm>
          <a:prstGeom prst="rect">
            <a:avLst/>
          </a:prstGeom>
          <a:solidFill>
            <a:srgbClr val="E8ECEF"/>
          </a:solidFill>
        </p:spPr>
      </p:sp>
      <p:sp>
        <p:nvSpPr>
          <p:cNvPr id="28" name="Text 26"/>
          <p:cNvSpPr/>
          <p:nvPr/>
        </p:nvSpPr>
        <p:spPr>
          <a:xfrm>
            <a:off x="582930" y="3077083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大模型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28850" y="3077083"/>
            <a:ext cx="6035040" cy="2743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0" name="Text 28"/>
          <p:cNvSpPr/>
          <p:nvPr/>
        </p:nvSpPr>
        <p:spPr>
          <a:xfrm>
            <a:off x="2228850" y="3077083"/>
            <a:ext cx="6035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DeepSeek (deepseek-chat)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2930" y="3369691"/>
            <a:ext cx="1645920" cy="274320"/>
          </a:xfrm>
          <a:prstGeom prst="rect">
            <a:avLst/>
          </a:prstGeom>
          <a:solidFill>
            <a:srgbClr val="E8ECEF"/>
          </a:solidFill>
        </p:spPr>
      </p:sp>
      <p:sp>
        <p:nvSpPr>
          <p:cNvPr id="32" name="Text 30"/>
          <p:cNvSpPr/>
          <p:nvPr/>
        </p:nvSpPr>
        <p:spPr>
          <a:xfrm>
            <a:off x="582930" y="3369691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向量数据库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228850" y="3369691"/>
            <a:ext cx="6035040" cy="2743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Text 32"/>
          <p:cNvSpPr/>
          <p:nvPr/>
        </p:nvSpPr>
        <p:spPr>
          <a:xfrm>
            <a:off x="2228850" y="3369691"/>
            <a:ext cx="6035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ChromaDB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82930" y="3662299"/>
            <a:ext cx="1645920" cy="274320"/>
          </a:xfrm>
          <a:prstGeom prst="rect">
            <a:avLst/>
          </a:prstGeom>
          <a:solidFill>
            <a:srgbClr val="E8ECEF"/>
          </a:solidFill>
        </p:spPr>
      </p:sp>
      <p:sp>
        <p:nvSpPr>
          <p:cNvPr id="36" name="Text 34"/>
          <p:cNvSpPr/>
          <p:nvPr/>
        </p:nvSpPr>
        <p:spPr>
          <a:xfrm>
            <a:off x="582930" y="3662299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28850" y="3662299"/>
            <a:ext cx="6035040" cy="2743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Text 36"/>
          <p:cNvSpPr/>
          <p:nvPr/>
        </p:nvSpPr>
        <p:spPr>
          <a:xfrm>
            <a:off x="2228850" y="3662299"/>
            <a:ext cx="6035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 / OpenAI / DashScope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82930" y="3954907"/>
            <a:ext cx="1645920" cy="274320"/>
          </a:xfrm>
          <a:prstGeom prst="rect">
            <a:avLst/>
          </a:prstGeom>
          <a:solidFill>
            <a:srgbClr val="E8ECEF"/>
          </a:solidFill>
        </p:spPr>
      </p:sp>
      <p:sp>
        <p:nvSpPr>
          <p:cNvPr id="40" name="Text 38"/>
          <p:cNvSpPr/>
          <p:nvPr/>
        </p:nvSpPr>
        <p:spPr>
          <a:xfrm>
            <a:off x="582930" y="3954907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前端框架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228850" y="3954907"/>
            <a:ext cx="6035040" cy="2743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2" name="Text 40"/>
          <p:cNvSpPr/>
          <p:nvPr/>
        </p:nvSpPr>
        <p:spPr>
          <a:xfrm>
            <a:off x="2228850" y="3954907"/>
            <a:ext cx="6035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82930" y="4247515"/>
            <a:ext cx="1645920" cy="274320"/>
          </a:xfrm>
          <a:prstGeom prst="rect">
            <a:avLst/>
          </a:prstGeom>
          <a:solidFill>
            <a:srgbClr val="E8ECEF"/>
          </a:solidFill>
        </p:spPr>
      </p:sp>
      <p:sp>
        <p:nvSpPr>
          <p:cNvPr id="44" name="Text 42"/>
          <p:cNvSpPr/>
          <p:nvPr/>
        </p:nvSpPr>
        <p:spPr>
          <a:xfrm>
            <a:off x="582930" y="4247515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服务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228850" y="4247515"/>
            <a:ext cx="6035040" cy="2743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6" name="Text 44"/>
          <p:cNvSpPr/>
          <p:nvPr/>
        </p:nvSpPr>
        <p:spPr>
          <a:xfrm>
            <a:off x="2228850" y="4247515"/>
            <a:ext cx="6035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(RESTful)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82930" y="4540123"/>
            <a:ext cx="1645920" cy="274320"/>
          </a:xfrm>
          <a:prstGeom prst="rect">
            <a:avLst/>
          </a:prstGeom>
          <a:solidFill>
            <a:srgbClr val="E8ECEF"/>
          </a:solidFill>
        </p:spPr>
      </p:sp>
      <p:sp>
        <p:nvSpPr>
          <p:cNvPr id="48" name="Text 46"/>
          <p:cNvSpPr/>
          <p:nvPr/>
        </p:nvSpPr>
        <p:spPr>
          <a:xfrm>
            <a:off x="582930" y="4540123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语音识别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228850" y="4540123"/>
            <a:ext cx="6035040" cy="2743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0" name="Text 48"/>
          <p:cNvSpPr/>
          <p:nvPr/>
        </p:nvSpPr>
        <p:spPr>
          <a:xfrm>
            <a:off x="2228850" y="4540123"/>
            <a:ext cx="6035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OpenAI Whisper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82930" y="4832731"/>
            <a:ext cx="1645920" cy="274320"/>
          </a:xfrm>
          <a:prstGeom prst="rect">
            <a:avLst/>
          </a:prstGeom>
          <a:solidFill>
            <a:srgbClr val="E8ECEF"/>
          </a:solidFill>
        </p:spPr>
      </p:sp>
      <p:sp>
        <p:nvSpPr>
          <p:cNvPr id="52" name="Text 50"/>
          <p:cNvSpPr/>
          <p:nvPr/>
        </p:nvSpPr>
        <p:spPr>
          <a:xfrm>
            <a:off x="582930" y="4832731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容器部署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228850" y="4832731"/>
            <a:ext cx="6035040" cy="27432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4" name="Text 52"/>
          <p:cNvSpPr/>
          <p:nvPr/>
        </p:nvSpPr>
        <p:spPr>
          <a:xfrm>
            <a:off x="2228850" y="4832731"/>
            <a:ext cx="60350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+ Compose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功能展示 — 智能问答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463040" cy="36576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4" name="Text 2"/>
          <p:cNvSpPr/>
          <p:nvPr/>
        </p:nvSpPr>
        <p:spPr>
          <a:xfrm>
            <a:off x="640080" y="91440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输入自然语言问题「IT设备怎么申请」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772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AI 检索知识库 → 精准回答 + 引用来源追溯</a:t>
            </a:r>
            <a:endParaRPr lang="en-US" sz="1200" dirty="0"/>
          </a:p>
        </p:txBody>
      </p:sp>
      <p:pic>
        <p:nvPicPr>
          <p:cNvPr id="6" name="Image 0" descr="D:\a\kb-qa-robot\assets\screenshot-qa-fu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0467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功能展示 — 知识库管理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463040" cy="36576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4" name="Text 2"/>
          <p:cNvSpPr/>
          <p:nvPr/>
        </p:nvSpPr>
        <p:spPr>
          <a:xfrm>
            <a:off x="640080" y="914400"/>
            <a:ext cx="8046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支持 8 种格式：PDF/DOCX/MD/TXT/XLSX/JPG/PNG/MP4   |   批量导入 + 文件夹导入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实时统计：文档数/切片数/数据库大小   |   单个删除 + 清空管理</a:t>
            </a:r>
            <a:endParaRPr lang="en-US" sz="1200" dirty="0"/>
          </a:p>
        </p:txBody>
      </p:sp>
      <p:pic>
        <p:nvPicPr>
          <p:cNvPr id="5" name="Image 0" descr="D:\a\kb-qa-robot\assets\screenshot-kb-fu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0467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功能展示 — 配置与历史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463040" cy="36576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4" name="Shape 2"/>
          <p:cNvSpPr/>
          <p:nvPr/>
        </p:nvSpPr>
        <p:spPr>
          <a:xfrm>
            <a:off x="548640" y="105156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E8ECEF"/>
          </a:solidFill>
        </p:spPr>
      </p:sp>
      <p:sp>
        <p:nvSpPr>
          <p:cNvPr id="5" name="Text 3"/>
          <p:cNvSpPr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80160" y="109728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Embedding 切换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41732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本地 BGE / OpenAI / DashScope 三种向量化方案自由选择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731520" y="21488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🎚️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80160" y="205740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检索调参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37744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Top-K 检索数量、温度参数、LLM 模型实时调节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E8ECEF"/>
          </a:solidFill>
        </p:spPr>
      </p:sp>
      <p:sp>
        <p:nvSpPr>
          <p:cNvPr id="13" name="Text 11"/>
          <p:cNvSpPr/>
          <p:nvPr/>
        </p:nvSpPr>
        <p:spPr>
          <a:xfrm>
            <a:off x="731520" y="31089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📜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80160" y="301752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历史管理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33756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问答记录自动保存、CSV 导出、按时间回溯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80160" y="397764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缓存控制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297680"/>
            <a:ext cx="3200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一键清除缓存，强制刷新 ChromaDB 连接</a:t>
            </a:r>
            <a:endParaRPr lang="en-US" sz="1100" dirty="0"/>
          </a:p>
        </p:txBody>
      </p:sp>
      <p:pic>
        <p:nvPicPr>
          <p:cNvPr id="20" name="Image 0" descr="D:\a\kb-qa-robot\assets\screenshot-side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05840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API 服务与部署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645920" cy="36576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4" name="Shape 2"/>
          <p:cNvSpPr/>
          <p:nvPr/>
        </p:nvSpPr>
        <p:spPr>
          <a:xfrm>
            <a:off x="640080" y="1371600"/>
            <a:ext cx="2743200" cy="32004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5" name="Text 3"/>
          <p:cNvSpPr/>
          <p:nvPr/>
        </p:nvSpPr>
        <p:spPr>
          <a:xfrm>
            <a:off x="640080" y="137160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端点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1371600" cy="32004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7" name="Text 5"/>
          <p:cNvSpPr/>
          <p:nvPr/>
        </p:nvSpPr>
        <p:spPr>
          <a:xfrm>
            <a:off x="3383280" y="137160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方法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371600"/>
            <a:ext cx="3657600" cy="32004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9" name="Text 7"/>
          <p:cNvSpPr/>
          <p:nvPr/>
        </p:nvSpPr>
        <p:spPr>
          <a:xfrm>
            <a:off x="5029200" y="137160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功能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719072"/>
            <a:ext cx="2743200" cy="3200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640080" y="1719072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/chat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1719072"/>
            <a:ext cx="1371600" cy="3200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3383280" y="1719072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1719072"/>
            <a:ext cx="3657600" cy="3200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5029200" y="1719072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RAG 智能问答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066544"/>
            <a:ext cx="2743200" cy="320040"/>
          </a:xfrm>
          <a:prstGeom prst="rect">
            <a:avLst/>
          </a:prstGeom>
          <a:solidFill>
            <a:srgbClr val="E8ECEF"/>
          </a:solidFill>
        </p:spPr>
      </p:sp>
      <p:sp>
        <p:nvSpPr>
          <p:cNvPr id="17" name="Text 15"/>
          <p:cNvSpPr/>
          <p:nvPr/>
        </p:nvSpPr>
        <p:spPr>
          <a:xfrm>
            <a:off x="640080" y="2066544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/search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83280" y="2066544"/>
            <a:ext cx="1371600" cy="320040"/>
          </a:xfrm>
          <a:prstGeom prst="rect">
            <a:avLst/>
          </a:prstGeom>
          <a:solidFill>
            <a:srgbClr val="E8ECEF"/>
          </a:solidFill>
        </p:spPr>
      </p:sp>
      <p:sp>
        <p:nvSpPr>
          <p:cNvPr id="19" name="Text 17"/>
          <p:cNvSpPr/>
          <p:nvPr/>
        </p:nvSpPr>
        <p:spPr>
          <a:xfrm>
            <a:off x="3383280" y="2066544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2066544"/>
            <a:ext cx="3657600" cy="320040"/>
          </a:xfrm>
          <a:prstGeom prst="rect">
            <a:avLst/>
          </a:prstGeom>
          <a:solidFill>
            <a:srgbClr val="E8ECEF"/>
          </a:solidFill>
        </p:spPr>
      </p:sp>
      <p:sp>
        <p:nvSpPr>
          <p:cNvPr id="21" name="Text 19"/>
          <p:cNvSpPr/>
          <p:nvPr/>
        </p:nvSpPr>
        <p:spPr>
          <a:xfrm>
            <a:off x="5029200" y="2066544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语义检索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2414016"/>
            <a:ext cx="2743200" cy="3200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640080" y="2414016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/upload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83280" y="2414016"/>
            <a:ext cx="1371600" cy="3200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" name="Text 23"/>
          <p:cNvSpPr/>
          <p:nvPr/>
        </p:nvSpPr>
        <p:spPr>
          <a:xfrm>
            <a:off x="3383280" y="2414016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0" y="2414016"/>
            <a:ext cx="3657600" cy="3200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Text 25"/>
          <p:cNvSpPr/>
          <p:nvPr/>
        </p:nvSpPr>
        <p:spPr>
          <a:xfrm>
            <a:off x="5029200" y="2414016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文档上传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2761488"/>
            <a:ext cx="2743200" cy="320040"/>
          </a:xfrm>
          <a:prstGeom prst="rect">
            <a:avLst/>
          </a:prstGeom>
          <a:solidFill>
            <a:srgbClr val="E8ECEF"/>
          </a:solidFill>
        </p:spPr>
      </p:sp>
      <p:sp>
        <p:nvSpPr>
          <p:cNvPr id="29" name="Text 27"/>
          <p:cNvSpPr/>
          <p:nvPr/>
        </p:nvSpPr>
        <p:spPr>
          <a:xfrm>
            <a:off x="640080" y="2761488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/stats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83280" y="2761488"/>
            <a:ext cx="1371600" cy="320040"/>
          </a:xfrm>
          <a:prstGeom prst="rect">
            <a:avLst/>
          </a:prstGeom>
          <a:solidFill>
            <a:srgbClr val="E8ECEF"/>
          </a:solidFill>
        </p:spPr>
      </p:sp>
      <p:sp>
        <p:nvSpPr>
          <p:cNvPr id="31" name="Text 29"/>
          <p:cNvSpPr/>
          <p:nvPr/>
        </p:nvSpPr>
        <p:spPr>
          <a:xfrm>
            <a:off x="3383280" y="2761488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0" y="2761488"/>
            <a:ext cx="3657600" cy="320040"/>
          </a:xfrm>
          <a:prstGeom prst="rect">
            <a:avLst/>
          </a:prstGeom>
          <a:solidFill>
            <a:srgbClr val="E8ECEF"/>
          </a:solidFill>
        </p:spPr>
      </p:sp>
      <p:sp>
        <p:nvSpPr>
          <p:cNvPr id="33" name="Text 31"/>
          <p:cNvSpPr/>
          <p:nvPr/>
        </p:nvSpPr>
        <p:spPr>
          <a:xfrm>
            <a:off x="5029200" y="2761488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知识库统计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3108960"/>
            <a:ext cx="2743200" cy="3200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5" name="Text 33"/>
          <p:cNvSpPr/>
          <p:nvPr/>
        </p:nvSpPr>
        <p:spPr>
          <a:xfrm>
            <a:off x="640080" y="310896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/documents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383280" y="3108960"/>
            <a:ext cx="1371600" cy="3200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7" name="Text 35"/>
          <p:cNvSpPr/>
          <p:nvPr/>
        </p:nvSpPr>
        <p:spPr>
          <a:xfrm>
            <a:off x="3383280" y="3108960"/>
            <a:ext cx="1371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GET/DELETE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3108960"/>
            <a:ext cx="3657600" cy="3200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9" name="Text 37"/>
          <p:cNvSpPr/>
          <p:nvPr/>
        </p:nvSpPr>
        <p:spPr>
          <a:xfrm>
            <a:off x="5029200" y="310896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文档管理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36576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Docker 部署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40080" y="3977640"/>
            <a:ext cx="3657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docker compose up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Streamlit :8501  +  API :8000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029200" y="3474720"/>
            <a:ext cx="3474720" cy="1280160"/>
          </a:xfrm>
          <a:prstGeom prst="roundRect">
            <a:avLst>
              <a:gd name="adj" fmla="val 7143"/>
            </a:avLst>
          </a:prstGeom>
          <a:solidFill>
            <a:srgbClr val="E8ECEF"/>
          </a:solidFill>
        </p:spPr>
      </p:sp>
      <p:sp>
        <p:nvSpPr>
          <p:cNvPr id="43" name="Text 41"/>
          <p:cNvSpPr/>
          <p:nvPr/>
        </p:nvSpPr>
        <p:spPr>
          <a:xfrm>
            <a:off x="5212080" y="3520440"/>
            <a:ext cx="310896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技术亮点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云计算平台可部署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Docker 容器化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RESTful API 标准化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移动端可访问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核心实现 — RAG 检索增强生成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2011680" cy="36576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4" name="Shape 2"/>
          <p:cNvSpPr/>
          <p:nvPr/>
        </p:nvSpPr>
        <p:spPr>
          <a:xfrm>
            <a:off x="640080" y="109728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E8ECEF"/>
          </a:solidFill>
        </p:spPr>
      </p:sp>
      <p:sp>
        <p:nvSpPr>
          <p:cNvPr id="5" name="Text 3"/>
          <p:cNvSpPr/>
          <p:nvPr/>
        </p:nvSpPr>
        <p:spPr>
          <a:xfrm>
            <a:off x="822960" y="114300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文档预处理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3657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LangChain RecursiveCharacterTextSplitter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chunk_size=500, overlap=50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中文优化分隔符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822960" y="210312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向量化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3657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BAAI/bge-small-zh-v1.5 本地模型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512 维向量, cosine 相似度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 OpenAI / DashScope 切换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E8ECEF"/>
          </a:solidFill>
        </p:spPr>
      </p:sp>
      <p:sp>
        <p:nvSpPr>
          <p:cNvPr id="11" name="Text 9"/>
          <p:cNvSpPr/>
          <p:nvPr/>
        </p:nvSpPr>
        <p:spPr>
          <a:xfrm>
            <a:off x="822960" y="306324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语义检索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337560"/>
            <a:ext cx="3657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ChromaDB 持久化存储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Top-K 可调 (1-10)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余弦距离 → 相似度分数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</p:spPr>
      </p:sp>
      <p:sp>
        <p:nvSpPr>
          <p:cNvPr id="14" name="Text 12"/>
          <p:cNvSpPr/>
          <p:nvPr/>
        </p:nvSpPr>
        <p:spPr>
          <a:xfrm>
            <a:off x="822960" y="402336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生成回答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297680"/>
            <a:ext cx="3657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DeepSeek API (OpenAI 兼容)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上下文拼接 + 系统提示词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引用来源追溯 + 多轮对话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1097280"/>
            <a:ext cx="3657600" cy="3840480"/>
          </a:xfrm>
          <a:prstGeom prst="roundRect">
            <a:avLst>
              <a:gd name="adj" fmla="val 2500"/>
            </a:avLst>
          </a:prstGeom>
          <a:solidFill>
            <a:srgbClr val="0D1B2A"/>
          </a:solidFill>
        </p:spPr>
      </p:sp>
      <p:sp>
        <p:nvSpPr>
          <p:cNvPr id="17" name="Text 15"/>
          <p:cNvSpPr/>
          <p:nvPr/>
        </p:nvSpPr>
        <p:spPr>
          <a:xfrm>
            <a:off x="5212080" y="118872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C4B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核心代码（Python）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0" y="1554480"/>
            <a:ext cx="329184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检索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C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contexts = retriever.retrieve(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C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user_input, top_k=4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C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C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→ [(text, meta, score), ...]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C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构建 Prompt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C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prompt = f"""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C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参考资料：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C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{context_text}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C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问题：{query}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C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"""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C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LLM 生成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C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answer = llm.chat([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C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{role:"system", content:SYSTEM_PROMPT},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C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{role:"user", content:prompt}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C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多模态 RAG 处理流程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2011680" cy="36576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4" name="Text 2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图片 RAG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1B3A5C"/>
          </a:solidFill>
        </p:spPr>
      </p:sp>
      <p:sp>
        <p:nvSpPr>
          <p:cNvPr id="6" name="Text 4"/>
          <p:cNvSpPr/>
          <p:nvPr/>
        </p:nvSpPr>
        <p:spPr>
          <a:xfrm>
            <a:off x="548640" y="1600200"/>
            <a:ext cx="1417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图片上传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JPG/PNG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20240" y="1828800"/>
            <a:ext cx="320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C4B6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94560" y="155448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1B3A5C"/>
          </a:solidFill>
        </p:spPr>
      </p:sp>
      <p:sp>
        <p:nvSpPr>
          <p:cNvPr id="9" name="Text 7"/>
          <p:cNvSpPr/>
          <p:nvPr/>
        </p:nvSpPr>
        <p:spPr>
          <a:xfrm>
            <a:off x="2194560" y="1600200"/>
            <a:ext cx="1417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 压缩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≤1024px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0" y="1828800"/>
            <a:ext cx="320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C4B6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840480" y="155448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1B3A5C"/>
          </a:solidFill>
        </p:spPr>
      </p:sp>
      <p:sp>
        <p:nvSpPr>
          <p:cNvPr id="12" name="Text 10"/>
          <p:cNvSpPr/>
          <p:nvPr/>
        </p:nvSpPr>
        <p:spPr>
          <a:xfrm>
            <a:off x="3840480" y="1600200"/>
            <a:ext cx="1417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Base64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编码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0" y="1828800"/>
            <a:ext cx="320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C4B6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0" y="155448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1B3A5C"/>
          </a:solidFill>
        </p:spPr>
      </p:sp>
      <p:sp>
        <p:nvSpPr>
          <p:cNvPr id="15" name="Text 13"/>
          <p:cNvSpPr/>
          <p:nvPr/>
        </p:nvSpPr>
        <p:spPr>
          <a:xfrm>
            <a:off x="5486400" y="1600200"/>
            <a:ext cx="1417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DeepSeek VL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视觉理解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0" y="1828800"/>
            <a:ext cx="320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C4B6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132320" y="155448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1B3A5C"/>
          </a:solidFill>
        </p:spPr>
      </p:sp>
      <p:sp>
        <p:nvSpPr>
          <p:cNvPr id="18" name="Text 16"/>
          <p:cNvSpPr/>
          <p:nvPr/>
        </p:nvSpPr>
        <p:spPr>
          <a:xfrm>
            <a:off x="7132320" y="1600200"/>
            <a:ext cx="1417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文本描述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向量库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27432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视频 RAG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2C5F7C"/>
          </a:solidFill>
        </p:spPr>
      </p:sp>
      <p:sp>
        <p:nvSpPr>
          <p:cNvPr id="21" name="Text 19"/>
          <p:cNvSpPr/>
          <p:nvPr/>
        </p:nvSpPr>
        <p:spPr>
          <a:xfrm>
            <a:off x="548640" y="3246120"/>
            <a:ext cx="1417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视频上传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MP4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20240" y="3474720"/>
            <a:ext cx="320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C4B6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2194560" y="32004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2C5F7C"/>
          </a:solidFill>
        </p:spPr>
      </p:sp>
      <p:sp>
        <p:nvSpPr>
          <p:cNvPr id="24" name="Text 22"/>
          <p:cNvSpPr/>
          <p:nvPr/>
        </p:nvSpPr>
        <p:spPr>
          <a:xfrm>
            <a:off x="2194560" y="3246120"/>
            <a:ext cx="1417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MoviePy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提取音频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66160" y="3474720"/>
            <a:ext cx="320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C4B6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3840480" y="32004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2C5F7C"/>
          </a:solidFill>
        </p:spPr>
      </p:sp>
      <p:sp>
        <p:nvSpPr>
          <p:cNvPr id="27" name="Text 25"/>
          <p:cNvSpPr/>
          <p:nvPr/>
        </p:nvSpPr>
        <p:spPr>
          <a:xfrm>
            <a:off x="3840480" y="3246120"/>
            <a:ext cx="1417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Whisper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语音识别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212080" y="3474720"/>
            <a:ext cx="320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C4B6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486400" y="32004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2C5F7C"/>
          </a:solidFill>
        </p:spPr>
      </p:sp>
      <p:sp>
        <p:nvSpPr>
          <p:cNvPr id="30" name="Text 28"/>
          <p:cNvSpPr/>
          <p:nvPr/>
        </p:nvSpPr>
        <p:spPr>
          <a:xfrm>
            <a:off x="5486400" y="3246120"/>
            <a:ext cx="1417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中文转录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文本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3474720"/>
            <a:ext cx="320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C4B6"/>
                </a:solidFill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132320" y="32004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2C5F7C"/>
          </a:solidFill>
        </p:spPr>
      </p:sp>
      <p:sp>
        <p:nvSpPr>
          <p:cNvPr id="33" name="Text 31"/>
          <p:cNvSpPr/>
          <p:nvPr/>
        </p:nvSpPr>
        <p:spPr>
          <a:xfrm>
            <a:off x="7132320" y="3246120"/>
            <a:ext cx="1417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文本→ 向量库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4297680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E8ECEF"/>
          </a:solidFill>
        </p:spPr>
      </p:sp>
      <p:sp>
        <p:nvSpPr>
          <p:cNvPr id="35" name="Text 33"/>
          <p:cNvSpPr/>
          <p:nvPr/>
        </p:nvSpPr>
        <p:spPr>
          <a:xfrm>
            <a:off x="822960" y="4343400"/>
            <a:ext cx="7315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VL 模型不可用时，自动降级为图片元数据描述（尺寸、格式），确保图片仍可被检索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容器化部署 — Docker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2011680" cy="36576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4" name="Text 2"/>
          <p:cNvSpPr/>
          <p:nvPr/>
        </p:nvSpPr>
        <p:spPr>
          <a:xfrm>
            <a:off x="640080" y="105156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docker-compose.yml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4206240" cy="2926080"/>
          </a:xfrm>
          <a:prstGeom prst="roundRect">
            <a:avLst>
              <a:gd name="adj" fmla="val 3125"/>
            </a:avLst>
          </a:prstGeom>
          <a:solidFill>
            <a:srgbClr val="0D1B2A"/>
          </a:solidFill>
        </p:spPr>
      </p:sp>
      <p:sp>
        <p:nvSpPr>
          <p:cNvPr id="6" name="Text 4"/>
          <p:cNvSpPr/>
          <p:nvPr/>
        </p:nvSpPr>
        <p:spPr>
          <a:xfrm>
            <a:off x="822960" y="1508760"/>
            <a:ext cx="3840480" cy="2651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C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services: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C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streamlit: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C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build: 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C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ports: ["8501:8501"]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C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command: python run_app.py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C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volumes: [./data:/app/data]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C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restart: unless-stopped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C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api: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C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build: 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C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ports: ["8000:8000"]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C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command: uvicorn api:app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C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--host 0.0.0.0 --port 8000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CE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restart: unless-stopped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03520" y="105156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部署架构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0" y="1463040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E8ECEF"/>
          </a:solidFill>
        </p:spPr>
      </p:sp>
      <p:sp>
        <p:nvSpPr>
          <p:cNvPr id="9" name="Text 7"/>
          <p:cNvSpPr/>
          <p:nvPr/>
        </p:nvSpPr>
        <p:spPr>
          <a:xfrm>
            <a:off x="5486400" y="1508760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多阶段构建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0" y="178308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3.11-slim 基础镜像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 安装依赖 → 复制源码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2331720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</p:spPr>
      </p:sp>
      <p:sp>
        <p:nvSpPr>
          <p:cNvPr id="12" name="Text 10"/>
          <p:cNvSpPr/>
          <p:nvPr/>
        </p:nvSpPr>
        <p:spPr>
          <a:xfrm>
            <a:off x="5486400" y="2377440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数据持久化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265176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ChromaDB 向量库 + 文档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通过 volume 挂载宿主机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0" y="3200400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E8ECEF"/>
          </a:solidFill>
        </p:spPr>
      </p:sp>
      <p:sp>
        <p:nvSpPr>
          <p:cNvPr id="15" name="Text 13"/>
          <p:cNvSpPr/>
          <p:nvPr/>
        </p:nvSpPr>
        <p:spPr>
          <a:xfrm>
            <a:off x="5486400" y="3246120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环境变量注入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0" y="352044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Key 通过 .env 传入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生产环境安全隔离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0" y="4069080"/>
            <a:ext cx="33832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5486400" y="4114800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自愈重启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438912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restart: unless-stopped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进程崩溃自动恢复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7772400" cy="457200"/>
          </a:xfrm>
          <a:prstGeom prst="roundRect">
            <a:avLst>
              <a:gd name="adj" fmla="val 16000"/>
            </a:avLst>
          </a:prstGeom>
          <a:solidFill>
            <a:srgbClr val="1B3A5C"/>
          </a:solidFill>
        </p:spPr>
      </p:sp>
      <p:sp>
        <p:nvSpPr>
          <p:cNvPr id="21" name="Text 19"/>
          <p:cNvSpPr/>
          <p:nvPr/>
        </p:nvSpPr>
        <p:spPr>
          <a:xfrm>
            <a:off x="914400" y="461772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$ docker compose up  →  Streamlit http://localhost:8501  +  API http://localhost:8000/docs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技术难点与解决方案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2011680" cy="36576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4" name="Shape 2"/>
          <p:cNvSpPr/>
          <p:nvPr/>
        </p:nvSpPr>
        <p:spPr>
          <a:xfrm>
            <a:off x="640080" y="109728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FDEBD0"/>
          </a:solidFill>
        </p:spPr>
      </p:sp>
      <p:sp>
        <p:nvSpPr>
          <p:cNvPr id="5" name="Text 3"/>
          <p:cNvSpPr/>
          <p:nvPr/>
        </p:nvSpPr>
        <p:spPr>
          <a:xfrm>
            <a:off x="822960" y="118872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ChromaDB metadata 为 None 导致崩溃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D5F5E3"/>
          </a:solidFill>
        </p:spPr>
      </p:sp>
      <p:sp>
        <p:nvSpPr>
          <p:cNvPr id="7" name="Text 5"/>
          <p:cNvSpPr/>
          <p:nvPr/>
        </p:nvSpPr>
        <p:spPr>
          <a:xfrm>
            <a:off x="4846320" y="118872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检索器中增加 None 检查：meta = metas[i] if metas[i] is not None else {}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28016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2EC4B6"/>
          </a:solidFill>
        </p:spPr>
      </p:sp>
      <p:sp>
        <p:nvSpPr>
          <p:cNvPr id="9" name="Text 7"/>
          <p:cNvSpPr/>
          <p:nvPr/>
        </p:nvSpPr>
        <p:spPr>
          <a:xfrm>
            <a:off x="4434840" y="12801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容错处理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FDEBD0"/>
          </a:solidFill>
        </p:spPr>
      </p:sp>
      <p:sp>
        <p:nvSpPr>
          <p:cNvPr id="11" name="Text 9"/>
          <p:cNvSpPr/>
          <p:nvPr/>
        </p:nvSpPr>
        <p:spPr>
          <a:xfrm>
            <a:off x="822960" y="196596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Streamlit 缓存导致知识库数据不更新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87452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D5F5E3"/>
          </a:solidFill>
        </p:spPr>
      </p:sp>
      <p:sp>
        <p:nvSpPr>
          <p:cNvPr id="13" name="Text 11"/>
          <p:cNvSpPr/>
          <p:nvPr/>
        </p:nvSpPr>
        <p:spPr>
          <a:xfrm>
            <a:off x="4846320" y="196596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移除 VectorStore 的 @st.cache_resource 装饰器，每次查询实时读取 ChromaDB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205740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2EC4B6"/>
          </a:solidFill>
        </p:spPr>
      </p:sp>
      <p:sp>
        <p:nvSpPr>
          <p:cNvPr id="15" name="Text 13"/>
          <p:cNvSpPr/>
          <p:nvPr/>
        </p:nvSpPr>
        <p:spPr>
          <a:xfrm>
            <a:off x="4434840" y="205740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状态管理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40080" y="265176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FDEBD0"/>
          </a:solidFill>
        </p:spPr>
      </p:sp>
      <p:sp>
        <p:nvSpPr>
          <p:cNvPr id="17" name="Text 15"/>
          <p:cNvSpPr/>
          <p:nvPr/>
        </p:nvSpPr>
        <p:spPr>
          <a:xfrm>
            <a:off x="822960" y="274320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中文长文本的语义分割精度问题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D5F5E3"/>
          </a:solidFill>
        </p:spPr>
      </p:sp>
      <p:sp>
        <p:nvSpPr>
          <p:cNvPr id="19" name="Text 17"/>
          <p:cNvSpPr/>
          <p:nvPr/>
        </p:nvSpPr>
        <p:spPr>
          <a:xfrm>
            <a:off x="4846320" y="274320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使用 RecursiveCharacterTextSplitter，中文句号/换行作为分隔符，chunk_size=500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34840" y="283464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2EC4B6"/>
          </a:solidFill>
        </p:spPr>
      </p:sp>
      <p:sp>
        <p:nvSpPr>
          <p:cNvPr id="21" name="Text 19"/>
          <p:cNvSpPr/>
          <p:nvPr/>
        </p:nvSpPr>
        <p:spPr>
          <a:xfrm>
            <a:off x="4434840" y="28346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文本处理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40080" y="342900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FDEBD0"/>
          </a:solidFill>
        </p:spPr>
      </p:sp>
      <p:sp>
        <p:nvSpPr>
          <p:cNvPr id="23" name="Text 21"/>
          <p:cNvSpPr/>
          <p:nvPr/>
        </p:nvSpPr>
        <p:spPr>
          <a:xfrm>
            <a:off x="822960" y="352044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多进程同时访问 SQLite 锁冲突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42900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D5F5E3"/>
          </a:solidFill>
        </p:spPr>
      </p:sp>
      <p:sp>
        <p:nvSpPr>
          <p:cNvPr id="25" name="Text 23"/>
          <p:cNvSpPr/>
          <p:nvPr/>
        </p:nvSpPr>
        <p:spPr>
          <a:xfrm>
            <a:off x="4846320" y="352044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API 与 Streamlit 共享同一 ChromaDB 路径，读操作并发，写操作由 API 统一处理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34840" y="361188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2EC4B6"/>
          </a:solidFill>
        </p:spPr>
      </p:sp>
      <p:sp>
        <p:nvSpPr>
          <p:cNvPr id="27" name="Text 25"/>
          <p:cNvSpPr/>
          <p:nvPr/>
        </p:nvSpPr>
        <p:spPr>
          <a:xfrm>
            <a:off x="4434840" y="361188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并发控制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40080" y="420624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FDEBD0"/>
          </a:solidFill>
        </p:spPr>
      </p:sp>
      <p:sp>
        <p:nvSpPr>
          <p:cNvPr id="29" name="Text 27"/>
          <p:cNvSpPr/>
          <p:nvPr/>
        </p:nvSpPr>
        <p:spPr>
          <a:xfrm>
            <a:off x="822960" y="42976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VL 模型不可用时的图片处理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420624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D5F5E3"/>
          </a:solidFill>
        </p:spPr>
      </p:sp>
      <p:sp>
        <p:nvSpPr>
          <p:cNvPr id="31" name="Text 29"/>
          <p:cNvSpPr/>
          <p:nvPr/>
        </p:nvSpPr>
        <p:spPr>
          <a:xfrm>
            <a:off x="4846320" y="4297680"/>
            <a:ext cx="3474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设计降级策略：VL 失败 → 提取图片尺寸/格式等元数据作为文本描述，确保可检索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34840" y="4389120"/>
            <a:ext cx="457200" cy="274320"/>
          </a:xfrm>
          <a:prstGeom prst="roundRect">
            <a:avLst>
              <a:gd name="adj" fmla="val 16667"/>
            </a:avLst>
          </a:prstGeom>
          <a:solidFill>
            <a:srgbClr val="2EC4B6"/>
          </a:solidFill>
        </p:spPr>
      </p:sp>
      <p:sp>
        <p:nvSpPr>
          <p:cNvPr id="33" name="Text 31"/>
          <p:cNvSpPr/>
          <p:nvPr/>
        </p:nvSpPr>
        <p:spPr>
          <a:xfrm>
            <a:off x="4434840" y="438912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降级设计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0" y="960120"/>
            <a:ext cx="2743200" cy="36576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4" name="Text 2"/>
          <p:cNvSpPr/>
          <p:nvPr/>
        </p:nvSpPr>
        <p:spPr>
          <a:xfrm>
            <a:off x="1371600" y="1188720"/>
            <a:ext cx="6858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完整 RAG 链路 — 文档加载 → 文本分割 → 向量嵌入 → 语义检索 → LLM 生成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0"/>
            <a:ext cx="6858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多模态支持 — 文本 + 图片（VL） + 视频（Whisper）全格式覆盖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103120"/>
            <a:ext cx="6858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多端访问 — Streamlit Web 界面 + FastAPI RESTful + Docker 一键部署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560320"/>
            <a:ext cx="6858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灵活 Embedding — 本地免费 BGE / OpenAI / 阿里云 DashScope 三种切换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017520"/>
            <a:ext cx="6858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来源追溯 — 每条回答标注引用文档和相关度分数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3474720"/>
            <a:ext cx="6858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工程化实践 — .env 配置 / 容错处理 / 降级策略 / 容器化部署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0" y="3931920"/>
            <a:ext cx="4572000" cy="36576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11" name="Text 9"/>
          <p:cNvSpPr/>
          <p:nvPr/>
        </p:nvSpPr>
        <p:spPr>
          <a:xfrm>
            <a:off x="914400" y="402336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C4B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团队成员分工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C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XXX（组长）: 项目架构 + RAG 核心    </a:t>
            </a:r>
            <a:r>
              <a:rPr lang="en-US" sz="1100" dirty="0">
                <a:solidFill>
                  <a:srgbClr val="E8EC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XXX: 多模态 + API 开发    </a:t>
            </a:r>
            <a:r>
              <a:rPr lang="en-US" sz="1100" dirty="0">
                <a:solidFill>
                  <a:srgbClr val="E8EC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XXX: 前端 + Docker 部署    </a:t>
            </a:r>
            <a:r>
              <a:rPr lang="en-US" sz="1100" dirty="0">
                <a:solidFill>
                  <a:srgbClr val="E8EC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XXX: 测试 + 文档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3249</Words>
  <Application>WPS 演示</Application>
  <PresentationFormat>On-screen Show (16:9)</PresentationFormat>
  <Paragraphs>401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宋体</vt:lpstr>
      <vt:lpstr>Wingdings</vt:lpstr>
      <vt:lpstr>Arial Black</vt:lpstr>
      <vt:lpstr>Arial Black</vt:lpstr>
      <vt:lpstr>Arial Black</vt:lpstr>
      <vt:lpstr>Calibri</vt:lpstr>
      <vt:lpstr>Calibri</vt:lpstr>
      <vt:lpstr>Calibri</vt:lpstr>
      <vt:lpstr>Consolas</vt:lpstr>
      <vt:lpstr>Consolas</vt:lpstr>
      <vt:lpstr>Consolas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企业知识库问答机器人 — 项目介绍</dc:title>
  <dc:creator>企业知识库问答机器人团队</dc:creator>
  <dc:subject>PptxGenJS Presentation</dc:subject>
  <cp:lastModifiedBy>彭广林</cp:lastModifiedBy>
  <cp:revision>2</cp:revision>
  <dcterms:created xsi:type="dcterms:W3CDTF">2026-06-03T18:02:00Z</dcterms:created>
  <dcterms:modified xsi:type="dcterms:W3CDTF">2026-06-03T18:04:28Z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588E41E1260A4EEA8298337D94B8587F_12</vt:lpwstr>
  </property>
  <property fmtid="{D5CDD505-2E9C-101B-9397-08002B2CF9AE}" pid="3" name="KSOProductBuildVer">
    <vt:lpwstr>2052-12.1.0.25222</vt:lpwstr>
  </property>
</Properties>
</file>